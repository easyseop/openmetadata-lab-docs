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73152"/>
          </a:xfrm>
          <a:prstGeom prst="rect">
            <a:avLst/>
          </a:prstGeom>
          <a:solidFill>
            <a:srgbClr val="0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607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맑은 고딕"/>
              </a:rPr>
              <a:t>커스텀 버전업 검증 전략</a:t>
            </a:r>
          </a:p>
          <a:p>
            <a:r>
              <a:rPr sz="2000" b="0">
                <a:solidFill>
                  <a:srgbClr val="BFD3E6"/>
                </a:solidFill>
                <a:latin typeface="맑은 고딕"/>
              </a:rPr>
              <a:t>커스텀 하나가 어떻게 등록되고 · 검사되고 · 증거로 남는가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FB2C8"/>
                </a:solidFill>
                <a:latin typeface="맑은 고딕"/>
              </a:rPr>
              <a:t>규칙 기반 자동 검사(단독) → LLM이 일하고 검사기가 근거를 뒷받침</a:t>
            </a:r>
          </a:p>
          <a:p>
            <a:r>
              <a:rPr sz="1400" b="0">
                <a:solidFill>
                  <a:srgbClr val="9FB2C8"/>
                </a:solidFill>
                <a:latin typeface="맑은 고딕"/>
              </a:rPr>
              <a:t>1.13.1 → 1.13.2 예행연습으로 직접 확인 · 정본 CODEX-05 기반</a:t>
            </a:r>
          </a:p>
          <a:p>
            <a:r>
              <a:rPr sz="1400" b="0">
                <a:solidFill>
                  <a:srgbClr val="9FB2C8"/>
                </a:solidFill>
                <a:latin typeface="맑은 고딕"/>
              </a:rPr>
              <a:t>2026-08-10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6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CB1"/>
                </a:solidFill>
                <a:latin typeface="맑은 고딕"/>
              </a:rPr>
              <a:t>왜 이 일을 시작했나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배경과 처음의 생각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목표: 우리가 손댄 부분(DB 커넥터·자체 화면·한글 입력 등)이 공식 버전업 뒤에도 안 깨지고 살아 있는지 확인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처음의 전제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B03A2E"/>
                </a:solidFill>
                <a:latin typeface="맑은 고딕"/>
              </a:rPr>
              <a:t>“AI(LLM)의 판단은 그때그때 달라, 배포 기준으로 삼기엔 믿기 어렵다”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→ 사람·AI 주관을 빼고, 정해진 규칙(파일 위치·커밋 이력)만 보는 자동 검사로 전부 걸러내자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효과: 같은 코드면 항상 같은 결과가 나오는 ‘재현 가능한 자동 판정’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6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CB1"/>
                </a:solidFill>
                <a:latin typeface="맑은 고딕"/>
              </a:rPr>
              <a:t>어떻게 만들었나 (초기)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처음 만든 것 — 규칙 기반 자동 검사기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파일 위치로 검사: ‘이 기능은 이 파일들에 있어야 한다’를 관리 목록에 적고 대조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커밋 이력으로 검사: 커밋마다 ‘무엇을 커스터마이징했는지’ 꼬리표를 달고, 선언 범위 밖을 건드렸는지 확인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안전장치: 검사를 못 돌리거나 애매하면 ‘통과’가 아니라 ‘막음’ (= 함부로 초록불이 안 뜬다)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못박기: 검사한 코드 상태를 특정 커밋에 못박아, 나중에 슬쩍 바꿔치기 못 하게 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8F8F"/>
                </a:solidFill>
                <a:latin typeface="맑은 고딕"/>
              </a:rPr>
              <a:t>1.13.1 → 1.13.2를 직접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예행연습 — 문서가 아니라 실제로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새 버전(1.13.2) 이미지 빌드 → 기존 데이터 이관 → 서버 기동 → 우리가 만든 API 확인까지 실제로 수행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8B57"/>
                </a:solidFill>
                <a:latin typeface="맑은 고딕"/>
              </a:rPr>
              <a:t>커스텀 기능(InstanceCode)은 실제 서버에서 생성·조회·수정·검색·삭제까지 동작 확인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B8791F"/>
                </a:solidFill>
                <a:latin typeface="맑은 고딕"/>
              </a:rPr>
              <a:t>현재 1.13.2는 ‘부분 확인’ — 일부 화면·데이터 검사가 남아 최종 합격 아님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핵심: 이 예행연습을 하며 ‘무엇이 잘 되고 무엇이 안 되는지’를 몸으로 알게 됐다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8B57"/>
                </a:solidFill>
                <a:latin typeface="맑은 고딕"/>
              </a:rPr>
              <a:t>해보니 이건 확실히 잘 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예행연습에서 확인한 강점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8B57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8B57"/>
                </a:solidFill>
                <a:latin typeface="맑은 고딕"/>
              </a:rPr>
              <a:t>애매하면 막는다: 검사가 빠지거나 실패하면 자동으로 통과되지 않는다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8B57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8B57"/>
                </a:solidFill>
                <a:latin typeface="맑은 고딕"/>
              </a:rPr>
              <a:t>사람이 판정을 못 뒤집는다: ‘그냥 통과시켜’를 눌러도 위험 판정은 사라지지 않는다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8B57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8B57"/>
                </a:solidFill>
                <a:latin typeface="맑은 고딕"/>
              </a:rPr>
              <a:t>결과 변경 감지: 저장된 판정이 바뀌면 ‘내용 지문’이 어긋나 티가 난다 (전자서명·외부공증은 아님)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8B57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8B57"/>
                </a:solidFill>
                <a:latin typeface="맑은 고딕"/>
              </a:rPr>
              <a:t>‘속 빈 테스트’ 색출: 기능을 일부러 빼봤을 때 그 테스트가 실패해야 진짜로 인정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8B57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8B57"/>
                </a:solidFill>
                <a:latin typeface="맑은 고딕"/>
              </a:rPr>
              <a:t>1.13.1은 필수 Contract 9개를 전부 통과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정확히는 API 4 · 브라우저(화면) 3 · 소스 정합성 2 = 9 — 9개 전부가 ‘서버 동작’ 검사는 아니다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B03A2E"/>
                </a:solidFill>
                <a:latin typeface="맑은 고딕"/>
              </a:rPr>
              <a:t>해보니 드러난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그런데 ① 운영이 힘들다 — 관리 파일이 너무 많다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B03A2E"/>
                </a:solidFill>
                <a:latin typeface="맑은 고딕"/>
              </a:rPr>
              <a:t>■ </a:t>
            </a:r>
            <a:r>
              <a:rPr sz="1500" b="1">
                <a:solidFill>
                  <a:srgbClr val="B03A2E"/>
                </a:solidFill>
                <a:latin typeface="맑은 고딕"/>
              </a:rPr>
              <a:t>무엇을 바꿨는지·어디까지 허용인지·누가 승인했는지를 전부 사람이 파일로 관리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버전업 때마다 이 목록들을 일일이 갱신해야 한다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→ ‘검사 자체’보다 ‘검사를 유지하는 비용’이 더 크다 (지속 운영의 벽)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목록이 늘수록 갱신 누락·중복 검사·피로로 인한 형식적 승인 위험이 커진다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B03A2E"/>
                </a:solidFill>
                <a:latin typeface="맑은 고딕"/>
              </a:rPr>
              <a:t>해보니 드러난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그리고 ② 규칙 검사만으로는 못 보는 것들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B03A2E"/>
                </a:solidFill>
                <a:latin typeface="맑은 고딕"/>
              </a:rPr>
              <a:t>■ </a:t>
            </a:r>
            <a:r>
              <a:rPr sz="1500" b="1">
                <a:solidFill>
                  <a:srgbClr val="B03A2E"/>
                </a:solidFill>
                <a:latin typeface="맑은 고딕"/>
              </a:rPr>
              <a:t>공식이 코드를 다른 파일로 옮기면 못 따라간다 (가장 큰 약점)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B8791F"/>
                </a:solidFill>
                <a:latin typeface="맑은 고딕"/>
              </a:rPr>
              <a:t>옛 위치만 보고 “사라졌다”고 오판 — 실제로 Sybase·Tibero 커넥터에서 오탐 발생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B03A2E"/>
                </a:solidFill>
                <a:latin typeface="맑은 고딕"/>
              </a:rPr>
              <a:t>■ </a:t>
            </a:r>
            <a:r>
              <a:rPr sz="1500" b="1">
                <a:solidFill>
                  <a:srgbClr val="B03A2E"/>
                </a:solidFill>
                <a:latin typeface="맑은 고딕"/>
              </a:rPr>
              <a:t>“파일이 공식과 다르다” ≠ “기능이 온전하다” — 반쯤 깨져도 ‘다르기만’ 하면 통과 가능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B03A2E"/>
                </a:solidFill>
                <a:latin typeface="맑은 고딕"/>
              </a:rPr>
              <a:t>■ </a:t>
            </a:r>
            <a:r>
              <a:rPr sz="1500" b="1">
                <a:solidFill>
                  <a:srgbClr val="B03A2E"/>
                </a:solidFill>
                <a:latin typeface="맑은 고딕"/>
              </a:rPr>
              <a:t>승인자가 진짜 권한자인지, 충돌이 실제로 얼마나 났는지는 사람이 적어넣는 값이라 검증 못 함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B03A2E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→ 규칙(파일·글자 기준)을 더 붙여도 이 약점은 반복된다 (구조적 한계)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6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CB1"/>
                </a:solidFill>
                <a:latin typeface="맑은 고딕"/>
              </a:rPr>
              <a:t>다른 접근에서 얻은 힌트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8/5 공유된 ‘LLM 기반 운영 방식’을 함께 검토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8B57"/>
                </a:solidFill>
                <a:latin typeface="맑은 고딕"/>
              </a:rPr>
              <a:t>강점: 규칙·지식 문서·자동화로 버전 포팅 시간을 크게 줄였다 (빠르고 체계적)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구조: 변경·수정·테스트·결과 기록을 대부분 LLM이 스스로 수행하고 결과도 스스로 문서에 적는다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6CB1"/>
                </a:solidFill>
                <a:latin typeface="맑은 고딕"/>
              </a:rPr>
              <a:t>검토 소감 (까려는 게 아니라 보완 제안)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E6CB1"/>
                </a:solidFill>
                <a:latin typeface="맑은 고딕"/>
              </a:rPr>
              <a:t>여기에 검사기로 ‘각 판단의 근거를 자동으로 뒷받침’하는 층을 더하면, 속도는 살리고 신뢰는 올릴 수 있겠더라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두 방식은 경쟁이 아니라 ‘빠른 실행 + 단단한 근거’로 합쳐진다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6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CB1"/>
                </a:solidFill>
                <a:latin typeface="맑은 고딕"/>
              </a:rPr>
              <a:t>방향 전환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그래서 방향 — LLM이 일하고, 검사기가 근거를 붙인다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6CB1"/>
                </a:solidFill>
                <a:latin typeface="맑은 고딕"/>
              </a:rPr>
              <a:t>LLM = 판단·제안: 무엇을 바꿀지, 코드가 어디로 옮겨졌을지, 충돌 해결, 필요한 테스트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검사기 = 뒷받침: 그 판단을 실제 코드·실행 증거로 확인하고, 위험하면 막는다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핵심 규칙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B03A2E"/>
                </a:solidFill>
                <a:latin typeface="맑은 고딕"/>
              </a:rPr>
              <a:t>LLM이 ‘됐다(✅)’고 적어도, 실제 코드·실행 증거가 없으면 ‘미확인’으로 표시한다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증거 없다고 곧장 ‘거짓’으로 몰지 않는다 → 확인 / 반박 / 미확인 / 사람검토 4단계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8F8F"/>
                </a:solidFill>
                <a:latin typeface="맑은 고딕"/>
              </a:rPr>
              <a:t>도입 제안 — LLM 작업의 ‘증거 층’으로 이 검사기를 도입(자랑 아님)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커스텀 하나(BANK-OM ID)가 검증되는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제안: 하이브리드에서 LLM 판단의 증거 층으로 이 시스템을 도입한다. 커스텀 하나가 아래 6단계로 등록·검사·증거화된다.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① 등록 — Manifest·Registry·Contract에 올린다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무엇을·어디를 바꿨고, 어떤 전용 계약으로 지킬지 선언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② 커밋·변경범위 검사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이 ID가 선언한 범위만 건드렸는지, 공식 계보 위에 얹혔는지 확인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③ 공용 파일의 ID별 코드 검사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여러 기능이 공유하는 파일에서 이 ID 몫의 코드가 살아있고 공식과 달라졌는지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④ 전용 Contract 실행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이 기능만의 계약 테스트를 돌린다 (API / 화면 / 소스) — 속 빈 테스트면 patch-kill로 걸러냄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⑤ commit·이미지와 결과 결속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검사 결과를 특정 커밋·이미지에 못박아 바꿔치기·사후수정을 탐지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⑥ 승인·증거 보관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권한자 승인 + 증거(무엇을·어떤 코드에서·어떤 결과) 보관 — 승인은 결과에 결속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8F8F"/>
                </a:solidFill>
                <a:latin typeface="맑은 고딕"/>
              </a:rPr>
              <a:t>기능마다 전용 계약이 할당된다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7개 기능별 Contract 검사표 (BANK-OM-001~007)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31520"/>
                <a:gridCol w="2743200"/>
                <a:gridCol w="1737360"/>
                <a:gridCol w="1097280"/>
                <a:gridCol w="475488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ID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기능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계약 유형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현재 검증 상태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001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InstanceCode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API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8B57"/>
                          </a:solidFill>
                          <a:latin typeface="맑은 고딕"/>
                        </a:rPr>
                        <a:t>1.13.1 통과 · 1.13.2 실제 동작 통과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002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QueryReport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API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8791F"/>
                          </a:solidFill>
                          <a:latin typeface="맑은 고딕"/>
                        </a:rPr>
                        <a:t>1.13.1 통과 · 1.13.2 부분(픽스처 필요)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003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Data Assertions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API + 화면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8791F"/>
                          </a:solidFill>
                          <a:latin typeface="맑은 고딕"/>
                        </a:rPr>
                        <a:t>API 통과 · 화면 별도 도구로 확인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004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은행 컬럼 확장 표시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API + 화면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medium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8B57"/>
                          </a:solidFill>
                          <a:latin typeface="맑은 고딕"/>
                        </a:rPr>
                        <a:t>API 통과 · 화면 통과(도구)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005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한글 IME 보정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화면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medium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8791F"/>
                          </a:solidFill>
                          <a:latin typeface="맑은 고딕"/>
                        </a:rPr>
                        <a:t>도구 지원 확인됨 · 경로 확보 후 실행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006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Sybase 커넥터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소스 정합성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8791F"/>
                          </a:solidFill>
                          <a:latin typeface="맑은 고딕"/>
                        </a:rPr>
                        <a:t>1.13.1 통과 · patch-kill 입증 · 1.13.2 코드이동→재anchor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007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Tibero 커넥터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소스 정합성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8791F"/>
                          </a:solidFill>
                          <a:latin typeface="맑은 고딕"/>
                        </a:rPr>
                        <a:t>1.13.1 통과 · patch-kill 입증 · 1.13.2 코드이동→재anchor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5B66"/>
                </a:solidFill>
                <a:latin typeface="맑은 고딕"/>
              </a:rPr>
              <a:t>필수 Contract 9개 = 위 required_test 합(API 4 · 화면 3 · 소스 2). 008~011은 기술 보완용 임시 ID(InstanceCode·QueryReport 계약에 연결, 사용자 확정 전).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2A44"/>
                </a:solidFill>
                <a:latin typeface="맑은 고딕"/>
              </a:rPr>
              <a:t>무엇이 어디까지 됐나 — 과장 없이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정직한 검증 현황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6424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813816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현황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1.13.1 필수 Contract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8B57"/>
                          </a:solidFill>
                          <a:latin typeface="맑은 고딕"/>
                        </a:rPr>
                        <a:t>9/9 통과 (API 4 · 화면 3 · 소스 정합성 2)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Patch-kill (속 빈 테스트 방지)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8791F"/>
                          </a:solidFill>
                          <a:latin typeface="맑은 고딕"/>
                        </a:rPr>
                        <a:t>Sybase·Tibero 소스 제거 실험 입증 완료 / 나머지 Runtime 제거 실험은 미완료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1.13.2 업그레이드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8791F"/>
                          </a:solidFill>
                          <a:latin typeface="맑은 고딕"/>
                        </a:rPr>
                        <a:t>InstanceCode 실제 동작 통과 / 나머지는 부분 검증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주장–증거 자동 대조기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55B66"/>
                          </a:solidFill>
                          <a:latin typeface="맑은 고딕"/>
                        </a:rPr>
                        <a:t>향후 설계 (미구현)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8F8F"/>
                </a:solidFill>
                <a:latin typeface="맑은 고딕"/>
              </a:rPr>
              <a:t>원리 — 대표 예시 4개 (전부가 아님)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왜 ‘MD 문서’가 아니라 ‘검사기’인가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22730"/>
                </a:solidFill>
                <a:latin typeface="맑은 고딕"/>
              </a:rPr>
              <a:t>‘도움’은 아래 4개가 아니다 — 앞의 6단계 × 7개 전용 계약 전부가 LLM의 각 주장에 증거를 붙인다. 아래는 그 원리의 대표 예시다. </a:t>
            </a:r>
            <a:r>
              <a:rPr sz="1250" b="0">
                <a:solidFill>
                  <a:srgbClr val="222730"/>
                </a:solidFill>
                <a:latin typeface="맑은 고딕"/>
              </a:rPr>
              <a:t>문서는 스스로 적는 글이라 안 해보고/고쳐도 티가 안 나지만, 검사기 증거는 지어내기 어렵고 보호된 CI에서 생성·보관하면 임의 변경을 탐지할 수 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286000"/>
          <a:ext cx="1106424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3566160"/>
                <a:gridCol w="4754880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LLM의 주장</a:t>
                      </a:r>
                    </a:p>
                  </a:txBody>
                  <a:tcPr marL="762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문서(MD)만: 위험</a:t>
                      </a:r>
                    </a:p>
                  </a:txBody>
                  <a:tcPr marL="762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검사기가 하는 것</a:t>
                      </a:r>
                    </a:p>
                  </a:txBody>
                  <a:tcPr marL="76200">
                    <a:solidFill>
                      <a:srgbClr val="1F2A4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22730"/>
                          </a:solidFill>
                          <a:latin typeface="맑은 고딕"/>
                        </a:rPr>
                        <a:t>“이 파일 바꿨다”</a:t>
                      </a:r>
                    </a:p>
                  </a:txBody>
                  <a:tcPr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B03A2E"/>
                          </a:solidFill>
                          <a:latin typeface="맑은 고딕"/>
                        </a:rPr>
                        <a:t>말만 믿게 됨</a:t>
                      </a:r>
                    </a:p>
                  </a:txBody>
                  <a:tcPr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8B57"/>
                          </a:solidFill>
                          <a:latin typeface="맑은 고딕"/>
                        </a:rPr>
                        <a:t>실제 커밋 변경을 직접 대조</a:t>
                      </a:r>
                    </a:p>
                  </a:txBody>
                  <a:tcPr marL="762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22730"/>
                          </a:solidFill>
                          <a:latin typeface="맑은 고딕"/>
                        </a:rPr>
                        <a:t>“충돌 0건”</a:t>
                      </a:r>
                    </a:p>
                  </a:txBody>
                  <a:tcPr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B03A2E"/>
                          </a:solidFill>
                          <a:latin typeface="맑은 고딕"/>
                        </a:rPr>
                        <a:t>안 해봐도 적힘</a:t>
                      </a:r>
                    </a:p>
                  </a:txBody>
                  <a:tcPr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8B57"/>
                          </a:solidFill>
                          <a:latin typeface="맑은 고딕"/>
                        </a:rPr>
                        <a:t>임시로 실제 병합해 충돌 수를 센다</a:t>
                      </a:r>
                    </a:p>
                  </a:txBody>
                  <a:tcPr marL="76200">
                    <a:solidFill>
                      <a:srgbClr val="EEF2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22730"/>
                          </a:solidFill>
                          <a:latin typeface="맑은 고딕"/>
                        </a:rPr>
                        <a:t>“테스트 통과”</a:t>
                      </a:r>
                    </a:p>
                  </a:txBody>
                  <a:tcPr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B03A2E"/>
                          </a:solidFill>
                          <a:latin typeface="맑은 고딕"/>
                        </a:rPr>
                        <a:t>적으면 끝</a:t>
                      </a:r>
                    </a:p>
                  </a:txBody>
                  <a:tcPr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8B57"/>
                          </a:solidFill>
                          <a:latin typeface="맑은 고딕"/>
                        </a:rPr>
                        <a:t>실제 서버에서 재실행, 미실행=통과 아님</a:t>
                      </a:r>
                    </a:p>
                  </a:txBody>
                  <a:tcPr marL="762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22730"/>
                          </a:solidFill>
                          <a:latin typeface="맑은 고딕"/>
                        </a:rPr>
                        <a:t>“승인함”</a:t>
                      </a:r>
                    </a:p>
                  </a:txBody>
                  <a:tcPr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B03A2E"/>
                          </a:solidFill>
                          <a:latin typeface="맑은 고딕"/>
                        </a:rPr>
                        <a:t>아무 이름이나</a:t>
                      </a:r>
                    </a:p>
                  </a:txBody>
                  <a:tcPr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8B57"/>
                          </a:solidFill>
                          <a:latin typeface="맑은 고딕"/>
                        </a:rPr>
                        <a:t>승인을 결과에 묶어 입력 바뀌면 무효</a:t>
                      </a:r>
                    </a:p>
                  </a:txBody>
                  <a:tcPr marL="76200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39496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8B57"/>
                </a:solidFill>
                <a:latin typeface="맑은 고딕"/>
              </a:rPr>
              <a:t>한 줄: 검사기는 ‘LLM이 실제로 일했다는 증거’를 만든다 — 보호된 CI에서 만들고 보관하면 임의 변경이 탐지된다.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2A44"/>
                </a:solidFill>
                <a:latin typeface="맑은 고딕"/>
              </a:rPr>
              <a:t>오해 방지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지켜야 할 조건 &amp; 검사기의 정확한 위치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1F2A44"/>
                </a:solidFill>
                <a:latin typeface="맑은 고딕"/>
              </a:rPr>
              <a:t>■ </a:t>
            </a:r>
            <a:r>
              <a:rPr sz="1500" b="1">
                <a:solidFill>
                  <a:srgbClr val="B03A2E"/>
                </a:solidFill>
                <a:latin typeface="맑은 고딕"/>
              </a:rPr>
              <a:t>LLM이 실행·기록·증거·승인을 다 하면 그건 ‘독립 검증’이 아니다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별도의 보호된 자동화(CI)가 실제 코드를 받아 검사를 돌려야 한다 — LLM은 요약만, 판정은 못 바꾼다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1F2A44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검사기 초록불 = “코드·기록·증거가 앞뒤 맞다” — “모든 기능 정상·배포 안전”까지는 아니다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1F2A44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8B57"/>
                </a:solidFill>
                <a:latin typeface="맑은 고딕"/>
              </a:rPr>
              <a:t>최종 배포에 필요한 4가지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①변경 범위 정합성 ②검사한 코드=배포할 코드 ③실제 서버 동작 검사 ④권한 있는 사람 승인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8B57"/>
                </a:solidFill>
                <a:latin typeface="맑은 고딕"/>
              </a:rPr>
              <a:t>한 장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결론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8B57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규칙 검사: 강력한 ‘근거·통제 장치’지만 혼자선 운영 부담 + 못 보는 맹점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8B57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LLM 운영: 빠르지만 스스로 적은 기록이라 근거가 약하다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8B57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8B57"/>
                </a:solidFill>
                <a:latin typeface="맑은 고딕"/>
              </a:rPr>
              <a:t>답 = LLM이 빠르게 일하고, 검사기가 그 근거를 (보호된 CI에서) 뒷받침하는 결합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8B57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커스텀 하나하나가 등록→범위검사→ID별 코드검사→전용 Contract→결속→승인·증거로 흐른다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8B57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현재: 1.13.1 필수 Contract 9/9 · 1.13.2 부분 검증 / 다음: 주장–증거 자동 대조기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