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73152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</a:rPr>
              <a:t>커스텀 버전업 검증 전략</a:t>
            </a:r>
          </a:p>
          <a:p>
            <a:r>
              <a:rPr sz="2000" b="0">
                <a:solidFill>
                  <a:srgbClr val="BFD3E6"/>
                </a:solidFill>
                <a:latin typeface="맑은 고딕"/>
              </a:rPr>
              <a:t>규칙 기반 검사기에서 무엇을 LLM 체제로 가져갈 것인가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77639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FB2C8"/>
                </a:solidFill>
                <a:latin typeface="맑은 고딕"/>
              </a:rPr>
              <a:t>1.13.0→1.13.1 통과 · 1.13.1→1.13.2에서 드러난 한계 · 그래서 정한 방향</a:t>
            </a:r>
          </a:p>
          <a:p>
            <a:r>
              <a:rPr sz="1400" b="0">
                <a:solidFill>
                  <a:srgbClr val="9FB2C8"/>
                </a:solidFill>
                <a:latin typeface="맑은 고딕"/>
              </a:rPr>
              <a:t>관리 파일 18종 1차 검토 결과 포함 · 정본 CODEX-05 기반</a:t>
            </a:r>
          </a:p>
          <a:p>
            <a:r>
              <a:rPr sz="1400" b="0">
                <a:solidFill>
                  <a:srgbClr val="9FB2C8"/>
                </a:solidFill>
                <a:latin typeface="맑은 고딕"/>
              </a:rPr>
              <a:t>2026-08-12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6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6CB1"/>
                </a:solidFill>
                <a:latin typeface="맑은 고딕"/>
              </a:rPr>
              <a:t>왜 시작했나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배경과 처음의 생각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6CB1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22730"/>
                </a:solidFill>
                <a:latin typeface="맑은 고딕"/>
              </a:rPr>
              <a:t>목표 — 우리가 손댄 부분(DB 커넥터·자체 화면·한글 입력 등)이 공식 버전업 뒤에도 안 깨지고 살아 있는지 확인한다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6CB1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22730"/>
                </a:solidFill>
                <a:latin typeface="맑은 고딕"/>
              </a:rPr>
              <a:t>전제 — AI를 쓰는 것 자체는 옳다. 다만 행내에서 운영하는 서비스라 최대한 보수적으로 가야 한다고 봤다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그래서 AI 개입을 최소화하고, 사람·AI 주관을 뺀 채 정해진 규칙(파일 위치·커밋 이력)만 보는 자동 검사로 전부 걸러내는 전략을 먼저 검토했다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6CB1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8B57"/>
                </a:solidFill>
                <a:latin typeface="맑은 고딕"/>
              </a:rPr>
              <a:t>효과 — 같은 코드면 항상 같은 결과가 나오는 ‘재현 가능한 자동 판정’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6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6CB1"/>
                </a:solidFill>
                <a:latin typeface="맑은 고딕"/>
              </a:rPr>
              <a:t>어떻게 만들었나 (초기)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처음 만든 것 — 규칙 기반 자동 검사기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6CB1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22730"/>
                </a:solidFill>
                <a:latin typeface="맑은 고딕"/>
              </a:rPr>
              <a:t>파일 위치 — ‘이 기능은 이 파일들에’를 목록에 적고 대조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6CB1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22730"/>
                </a:solidFill>
                <a:latin typeface="맑은 고딕"/>
              </a:rPr>
              <a:t>커밋 이력 — 커밋마다 꼬리표(Customization-ID) + 선언 범위 밖 변경 확인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6CB1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22730"/>
                </a:solidFill>
                <a:latin typeface="맑은 고딕"/>
              </a:rPr>
              <a:t>안전장치 — 애매하면 통과가 아닌 ‘막음’(fail-closed)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6CB1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22730"/>
                </a:solidFill>
                <a:latin typeface="맑은 고딕"/>
              </a:rPr>
              <a:t>못박기 — 검사한 코드를 특정 커밋·tree에 고정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6CB1"/>
                </a:solidFill>
                <a:latin typeface="맑은 고딕"/>
              </a:rPr>
              <a:t>■ </a:t>
            </a:r>
            <a:r>
              <a:rPr sz="1500" b="1">
                <a:solidFill>
                  <a:srgbClr val="0E8F8F"/>
                </a:solidFill>
                <a:latin typeface="맑은 고딕"/>
              </a:rPr>
              <a:t>예시) BANK-OM-001(InstanceCode) 하나가 만드는 관리 문서 2종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manifests/BANK-OM-001.yaml — 경로 목록(‘경로 기반’의 실체). allowed 약 50개 / required는 핵심 앵커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contracts.yaml — 불변식(codeGroup/codeValue가 CRUD·재색인 뒤에도 동일 조회) + 그걸 지키는 테스트</a:t>
            </a:r>
          </a:p>
          <a:p>
            <a:pPr lvl="2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맑은 고딕"/>
              </a:rPr>
              <a:t>· 여기 보인 건 2종일 뿐 — registry·shared-path-owners·정책 3종·계획 3종·못박기·증거 3종까지 합쳐 커스텀 11개 기준 약 25개의 관리 파일이 함께 돈다 (→ 6페이지)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3A2E"/>
                </a:solidFill>
                <a:latin typeface="맑은 고딕"/>
              </a:rPr>
              <a:t>직접 돌려봄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업그레이드 테스트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B03A2E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8B57"/>
                </a:solidFill>
                <a:latin typeface="맑은 고딕"/>
              </a:rPr>
              <a:t>1.13.0 → 1.13.1  성공 — 변화가 작아 충돌 0·자동 병합. 규칙 기반으로 깔끔히 통과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B03A2E"/>
                </a:solidFill>
                <a:latin typeface="맑은 고딕"/>
              </a:rPr>
              <a:t>■ </a:t>
            </a:r>
            <a:r>
              <a:rPr sz="1500" b="1">
                <a:solidFill>
                  <a:srgbClr val="B03A2E"/>
                </a:solidFill>
                <a:latin typeface="맑은 고딕"/>
              </a:rPr>
              <a:t>1.13.1 → 1.13.2  여기서 막힘 — 아래 ①→② 순서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① 병합(먼저) — 충돌 다수 + Sybase 코드가 다른 파일로 이사(리로케이션). 커스텀을 새 위치에 수작업 재적용하고 관리 파일 ~25개·커밋 이력도 함께 손봐야 했다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② 실행·검증(그 뒤) — 병합을 수작업 해결한 뒤 이미지 빌드 → 데이터 이관 → 서버 기동 → API 확인. InstanceCode는 실제 서버에서 CRUD·검색까지 동작 (PASS)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B03A2E"/>
                </a:solidFill>
                <a:latin typeface="맑은 고딕"/>
              </a:rPr>
              <a:t>■ </a:t>
            </a:r>
            <a:r>
              <a:rPr sz="1500" b="1">
                <a:solidFill>
                  <a:srgbClr val="B03A2E"/>
                </a:solidFill>
                <a:latin typeface="맑은 고딕"/>
              </a:rPr>
              <a:t>업그레이드 테스트를 하며 겪은 어려움 — 리로케이션은 드러난 계기 중 하나일 뿐이었다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① 코드 이동 — 코드가 어디로 옮겨갔는지 규칙으론 못 따라간다 (옛 경로만 보고 “사라졌다”고 오판)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② 반쪽 병합 — 검사기는 ‘그 파일이 공식과 다른가’로만 판정한다. 어떻게 다른지는 안 본다 → 절반만 들어가도 통과된다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③ 등록할 경로가 많다 — Sybase 하나에 18개, 그중 11개가 자동 생성 파일이라 다시 만들 때마다 통째로 바뀐다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④ 관리 부담 — 그때마다 관리 파일 ~25개와 커밋 이력을 사람이 갱신해야 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3A2E"/>
                </a:solidFill>
                <a:latin typeface="맑은 고딕"/>
              </a:rPr>
              <a:t>드러난 한계 ① — 규칙 검사의 사각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규칙 검사만으로는 못 보는 것들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B03A2E"/>
                </a:solidFill>
                <a:latin typeface="맑은 고딕"/>
              </a:rPr>
              <a:t>■ </a:t>
            </a:r>
            <a:r>
              <a:rPr sz="1500" b="1">
                <a:solidFill>
                  <a:srgbClr val="B03A2E"/>
                </a:solidFill>
                <a:latin typeface="맑은 고딕"/>
              </a:rPr>
              <a:t>리로케이션 — 코드가 다른 파일로 이사 가면 옛 경로만 보고 ‘사라졌다’고 오판한다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B03A2E"/>
                </a:solidFill>
                <a:latin typeface="맑은 고딕"/>
              </a:rPr>
              <a:t>■ </a:t>
            </a:r>
            <a:r>
              <a:rPr sz="1500" b="1">
                <a:solidFill>
                  <a:srgbClr val="B03A2E"/>
                </a:solidFill>
                <a:latin typeface="맑은 고딕"/>
              </a:rPr>
              <a:t>의미(반쪽 병합) — 검사기의 ‘생존’ 판정 기준은 “커스텀 파일이 공식과 다른가”다. 그런데 ‘다르다’ ≠ ‘기능이 온전하다’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병합이 어긋나 커스텀 로직이 반쪽만 들어가도 ‘공식과 다름’은 성립 → survived(통과)로 새어나간다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DB 마이그레이션이 어긋나 서버가 아예 안 뜬 적도 있다 — 파일은 멀쩡한데 런타임이 깨진 경우. 경로만 보는 검사론 못 잡는다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03A2E"/>
                </a:solidFill>
                <a:latin typeface="맑은 고딕"/>
              </a:rPr>
              <a:t>드러난 한계 ② — 지속 가능 운영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지속 가능 운영의 한계 — 관리할 파일이 너무 많다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B03A2E"/>
                </a:solidFill>
                <a:latin typeface="맑은 고딕"/>
              </a:rPr>
              <a:t>■ </a:t>
            </a:r>
            <a:r>
              <a:rPr sz="1500" b="1">
                <a:solidFill>
                  <a:srgbClr val="B03A2E"/>
                </a:solidFill>
                <a:latin typeface="맑은 고딕"/>
              </a:rPr>
              <a:t>부담 — 무엇을 바꿨는지·어디까지 허용인지·누가 승인했는지를 전부 사람이 파일로 관리한다. 반복 버전업 때마다 이 목록들을 일일이 갱신해야 한다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B03A2E"/>
                </a:solidFill>
                <a:latin typeface="맑은 고딕"/>
              </a:rPr>
              <a:t>■ </a:t>
            </a:r>
            <a:r>
              <a:rPr sz="1500" b="1">
                <a:solidFill>
                  <a:srgbClr val="B03A2E"/>
                </a:solidFill>
                <a:latin typeface="맑은 고딕"/>
              </a:rPr>
              <a:t>본질 — ‘검사 자체’보다 ‘검사를 유지하는 비용’이 더 크다. 지속 운영의 벽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위험 — 목록이 늘수록 갱신 누락·중복 검사·피로로 인한 형식적 승인 위험이 커진다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8B57"/>
                </a:solidFill>
                <a:latin typeface="맑은 고딕"/>
              </a:rPr>
              <a:t>왜 ‘룰베이스 검사기’인가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강점 — LLM 혼자선 보장 못 하는 것들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8B57"/>
                </a:solidFill>
                <a:latin typeface="맑은 고딕"/>
              </a:rPr>
              <a:t>■ </a:t>
            </a:r>
            <a:r>
              <a:rPr sz="1500" b="1">
                <a:solidFill>
                  <a:srgbClr val="0E8F8F"/>
                </a:solidFill>
                <a:latin typeface="맑은 고딕"/>
              </a:rPr>
              <a:t>아래는 전부 LLM도 할 수 있는 일이다. 차이는 능력이 아니라 누가 증언하느냐에 있다 — LLM이 하면 LLM의 말이 되고, 검사기가 하면 증거가 된다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8B57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8B57"/>
                </a:solidFill>
                <a:latin typeface="맑은 고딕"/>
              </a:rPr>
              <a:t>빼보기(patch-kill) — 기능이 되는지가 아니라 그 테스트가 진짜인지를 검사한다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① 테스트 사전 정의 → ② 공식 버전에서 FAIL 이어야 정상 → ③ 커스텀 버전에서 PASS 여야 정상. ②가 PASS면 속 빈 테스트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555B66"/>
                </a:solidFill>
                <a:latin typeface="맑은 고딕"/>
              </a:rPr>
              <a:t>LLM이 하면: “돌려봤고 실패했습니다”—사실인지 알 방법이 없다 / 검사기가 하면: 어느 커밋에서 어떻게 실패했는지 파일로 남는다</a:t>
            </a:r>
          </a:p>
          <a:p>
            <a:pPr lvl="2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맑은 고딕"/>
              </a:rPr>
              <a:t>· 한계 — 아무것도 안 보는 테스트는 걸러내지만, 덜 보는 테스트는 못 걸러낸다 (status_code==200만 봐도 통과). 그래서 사람이 읽을 것은 불변식 한 줄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8B57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8B57"/>
                </a:solidFill>
                <a:latin typeface="맑은 고딕"/>
              </a:rPr>
              <a:t>막고 보기(fail-closed) — 검사 하나라도 못 돌면 통과가 아니라 막음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실제: runtime contracts 2 pass · 7 skipped → verdict: block  (실패가 0인데도 통과가 아니다)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8B57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8B57"/>
                </a:solidFill>
                <a:latin typeface="맑은 고딕"/>
              </a:rPr>
              <a:t>못박기(candidate-lock) — 검사한 코드를 커밋에 고정해 이후 바뀌면 드러난다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8B57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8B57"/>
                </a:solidFill>
                <a:latin typeface="맑은 고딕"/>
              </a:rPr>
              <a:t>기계 대조(data-check) — 고정된 건 값이 아니라 판정 규칙. 값이 매번 달라지면 ‘넣은 값이 그대로 나오는지’(round-trip)로 대조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8B57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6CB1"/>
                </a:solidFill>
                <a:latin typeface="맑은 고딕"/>
              </a:rPr>
              <a:t>결정론(재현성) — 이 항목만은 LLM이 구조적으로 못 한다. 같은 입력에도 답이 흔들려 배포 기준이 될 수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6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6CB1"/>
                </a:solidFill>
                <a:latin typeface="맑은 고딕"/>
              </a:rPr>
              <a:t>참고한 다른 접근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8/5 공유된 ‘LLM 기반 운영 방식’ (참고)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6CB1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6CB1"/>
                </a:solidFill>
                <a:latin typeface="맑은 고딕"/>
              </a:rPr>
              <a:t>개념 — 규칙·지식 문서·자동화로 LLM이 버전 포팅을 빠르게 수행하는 방식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555B66"/>
                </a:solidFill>
                <a:latin typeface="맑은 고딕"/>
              </a:rPr>
              <a:t>“포팅 시간 크게 단축”은 그 방식의 자체 보고 수치 — 우리가 실행·검증한 건 아니다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6CB1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22730"/>
                </a:solidFill>
                <a:latin typeface="맑은 고딕"/>
              </a:rPr>
              <a:t>구조 — 변경·수정·테스트·결과 기록을 대부분 LLM이 스스로 수행하고, 그 결과도 스스로 문서에 적는다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2E6CB1"/>
                </a:solidFill>
                <a:latin typeface="맑은 고딕"/>
              </a:rPr>
              <a:t>■ </a:t>
            </a:r>
            <a:r>
              <a:rPr sz="1500" b="1">
                <a:solidFill>
                  <a:srgbClr val="0E8F8F"/>
                </a:solidFill>
                <a:latin typeface="맑은 고딕"/>
              </a:rPr>
              <a:t>우리 생각 — 검증이 아니라 방향 제안: 이 접근에 검사기로 ‘각 판단의 근거를 자동으로 뒷받침’하는 층을 더하면 속도(LLM)는 살리고 신뢰(근거)는 끌어올릴 수 있겠다. 경쟁이 아니라 보완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8F8F"/>
                </a:solidFill>
                <a:latin typeface="맑은 고딕"/>
              </a:rPr>
              <a:t>방향 전환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LLM이 일하고, 검사기가 근거를 붙인다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6CB1"/>
                </a:solidFill>
                <a:latin typeface="맑은 고딕"/>
              </a:rPr>
              <a:t>LLM — 판단·제안: 무엇을 바꿀지, 코드가 어디로 옮겨졌을지, 충돌 해결, 필요한 테스트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0E8F8F"/>
                </a:solidFill>
                <a:latin typeface="맑은 고딕"/>
              </a:rPr>
              <a:t>검사기 — 뒷받침: 그 판단을 실제 코드·실행 증거로 확인하고, 위험하면 막는다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22730"/>
                </a:solidFill>
                <a:latin typeface="맑은 고딕"/>
              </a:rPr>
              <a:t>구체적으로 — LLM의 주장을 검사기가 이렇게 확인한다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“이 파일 바꿨다” → 실제 커밋의 변경 내역을 직접 대조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“충돌 0건” → 임시로 실제 병합해 충돌 수를 센다 (안 해보고 적어도 티가 안 나는 주장)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“테스트 통과” → 실제 서버에서 다시 실행 (미실행은 통과가 아니다)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“승인함” → 승인을 결과에 묶어 입력이 바뀌면 자동 무효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0E8F8F"/>
                </a:solidFill>
                <a:latin typeface="맑은 고딕"/>
              </a:rPr>
              <a:t>핵심 규칙 — LLM이 ‘됐다’고 적어도 증거가 없으면 ‘미확인’으로 표시한다. 증거 없다고 곧장 ‘거짓’으로 몰지 않는다 → 확인·반박·미확인·사람검토 4단계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8F8F"/>
                </a:solidFill>
                <a:latin typeface="맑은 고딕"/>
              </a:rPr>
              <a:t>도입 제안 ① — 검증되는 과정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커스텀 하나(BANK-OM ID)가 검증되는 과정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0E8F8F"/>
                </a:solidFill>
                <a:latin typeface="맑은 고딕"/>
              </a:rPr>
              <a:t>제안 — 하이브리드에서 LLM 작업의 ‘증거 층’으로 이 검사기를 도입한다 (자랑이 아니라 도입 대상)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① 등록 — Manifest·Registry·Contract. 무엇을·어디를 바꿨고 어떤 검사로 지킬지 선언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② 커밋·변경범위 검사 — 선언한 범위만 건드렸는지, 공식 계보 위에 얹혔는지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③ 공용 파일의 ID별 코드 검사 — 공유 파일에서 이 ID 몫의 코드가 살아있는지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④ 전용 검사 실행 — 이 기능만의 검사(API/화면/소스). 속 빈 테스트면 patch-kill로 걸러낸다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⑤ commit·이미지와 결과 결속 — 바꿔치기·사후수정을 감지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⑥ 승인·증거 보관 — 권한자 승인 + 증거 보관. 승인은 결과에 결속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0E8F8F"/>
                </a:solidFill>
                <a:latin typeface="맑은 고딕"/>
              </a:rPr>
              <a:t>6페이지 한계와의 연결 — “관리 파일이 많다”는 부담을 그대로 두지 않는다. 이 산출물을 사람이 아니라 LLM이 생성·갱신하고, 검사기는 검증만 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6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6CB1"/>
                </a:solidFill>
                <a:latin typeface="맑은 고딕"/>
              </a:rPr>
              <a:t>도입 제안 ② — LLM이 만든다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LLM이 만들고, 사람이 확인한다  (관리 파일 9종)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2286000"/>
                <a:gridCol w="731520"/>
                <a:gridCol w="48463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LLM 체제에서의 역할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customization-registry.yaml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우리가 손댄 기능 전체 명단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8B57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LLM이 명단을 갱신, 사람은 확인만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manifests/BANK-OM-00N.yaml (11개)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기능별 상세 카드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8B57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리로케이션 대응이 여기로 — LLM이 새 위치를 찾아 경로를 고쳐 제안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contracts.yaml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지켜야 할 약속 + 확인 테스트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8B57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사람과 LLM의 경계선 — 불변식(무엇)은 사람이, 테스트(어떻게)는 LLM이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shared-path-owners.yaml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공유 파일의 기능별 지분(37개)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8B57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LLM이 초안 작성 (사람이 일일이 세던 일)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source-diff-paths.txt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바뀐 파일 전체 목록(113)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8B57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LLM이 읽고 ‘등록 누락’을 찾아 제안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patch-kill-plan.yaml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빼보기 검사 계획(소스)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8791F"/>
                          </a:solidFill>
                          <a:latin typeface="맑은 고딕"/>
                        </a:rPr>
                        <a:t>보류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LLM은 ‘이 테스트가 진짜다’를 스스로 주장할 수 없다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runtime-patch-kill-plan.yaml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빼보기 검사 계획(실서버)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8791F"/>
                          </a:solidFill>
                          <a:latin typeface="맑은 고딕"/>
                        </a:rPr>
                        <a:t>보류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공식 이미지로 한 번 돌리는 것으로 정리된다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upgrade-rehearsal-matrix.yaml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버전 올림 예행연습 표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8791F"/>
                          </a:solidFill>
                          <a:latin typeface="맑은 고딕"/>
                        </a:rPr>
                        <a:t>보류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LLM에게 병합을 맡길수록 격리가 중요해진다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previous-run-test-review.yaml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직전 버전 테스트 기록 확인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6CB1"/>
                          </a:solidFill>
                          <a:latin typeface="맑은 고딕"/>
                        </a:rPr>
                        <a:t>신규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LLM이 가장 잘하는 일 — 직전 기록을 읽고 원인을 정리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B66"/>
                </a:solidFill>
                <a:latin typeface="맑은 고딕"/>
              </a:rPr>
              <a:t>1차 검토 전체 18종 기준 — 채택 8 · 제외 3 · 보류 5 · 신규 2 제안   ※ 4페이지와 모순 아닌가: 버리는 것은 ‘경로가 안 맞으면 죽었다고 판정’하던 것. 남기는 것은 ‘어디서부터 찾을지의 출발점’ — 경로 목록이 없으면 LLM도 일을 못 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8F8F"/>
                </a:solidFill>
                <a:latin typeface="맑은 고딕"/>
              </a:rPr>
              <a:t>도입 제안 ③ — LLM이 못 바꾼다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사람이 정하고, LLM이 못 바꾼다  (관리 파일 5종)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2286000"/>
                <a:gridCol w="731520"/>
                <a:gridCol w="48463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LLM 체제에서의 역할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policies/sensitive-zones.yaml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손대면 위험한 구역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8B57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LLM에게 주는 유일한 하드 제약. 이 파일 자체를 못 고친다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policies/repository-layout.yaml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공식/우리 것 구분 지도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맑은 고딕"/>
                        </a:rPr>
                        <a:t>제외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폴더 구분 판단은 LLM이 한다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policies/debt-thresholds.yaml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고친 양 상한선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맑은 고딕"/>
                        </a:rPr>
                        <a:t>제외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LLM은 필요하면 대규모로 고칠 수 있어야 한다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change-intent-current.yaml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이번 작업의 허용/금지 범위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맑은 고딕"/>
                        </a:rPr>
                        <a:t>제외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LLM이 매니페스트에서 범위를 읽어 판단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candidate-locks/ (lock+approval)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코드 봉인 + 승인 묶기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8B57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LLM이 손댈 수 없는 영역. 판정과 승인은 못 바꾼다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B66"/>
                </a:solidFill>
                <a:latin typeface="맑은 고딕"/>
              </a:rPr>
              <a:t>다 덜어내도 이 둘은 남긴다 — ① 손대면 안 되는 구역(sensitive-zones) ② 검사한 코드와 승인을 못 바꾸게 묶는 것(candidate-locks)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8B57"/>
                </a:solidFill>
                <a:latin typeface="맑은 고딕"/>
              </a:rPr>
              <a:t>도입 제안 ④ — 검사기가 남긴다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검사기가 자동으로 남긴다  (관리 파일 4종)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00400"/>
                <a:gridCol w="2286000"/>
                <a:gridCol w="731520"/>
                <a:gridCol w="48463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용도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LLM 체제에서의 역할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source-candidate-evidence.yaml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소스 검사 결과 기록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8B57"/>
                          </a:solidFill>
                          <a:latin typeface="맑은 고딕"/>
                        </a:rPr>
                        <a:t>채택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 주장과 대조할 원본. LLM은 이 파일을 만들지 않는다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source-patch-kill-evidence.yaml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빼보기 결과 기록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8791F"/>
                          </a:solidFill>
                          <a:latin typeface="맑은 고딕"/>
                        </a:rPr>
                        <a:t>보류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‘공식 버전에서 몇 개가 제대로 실패했나’가 기록될 자리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ui-typecheck-baseline-evidence.yaml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화면 타입오류 기준선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B8791F"/>
                          </a:solidFill>
                          <a:latin typeface="맑은 고딕"/>
                        </a:rPr>
                        <a:t>보류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LLM이 옮겨 붙인 결과를 값싸게 검증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previous-run-test-review-evidence.yaml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직전 기록 확인 결과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6CB1"/>
                          </a:solidFill>
                          <a:latin typeface="맑은 고딕"/>
                        </a:rPr>
                        <a:t>신규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LLM이 정리한 회고를 기록으로 고정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B66"/>
                </a:solidFill>
                <a:latin typeface="맑은 고딕"/>
              </a:rPr>
              <a:t>LLM은 “테스트 통과했습니다”라고 적는 데 비용이 0이다 → 검사기가 독립적으로 만든 이 기록만이 LLM 주장의 근거가 된다. 관리 부담은 원래 0인 영역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6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E6CB1"/>
                </a:solidFill>
                <a:latin typeface="맑은 고딕"/>
              </a:rPr>
              <a:t>도입 제안 마무리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그래서 빨라지나 — 시간이 어디서 늘고 줄나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194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1280160"/>
                <a:gridCol w="1097280"/>
                <a:gridCol w="44805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버전업에서 시간이 드는 일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지금 누가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크기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바뀌면</a:t>
                      </a:r>
                    </a:p>
                  </a:txBody>
                  <a:tcPr anchor="ctr" marT="38100" marB="38100">
                    <a:solidFill>
                      <a:srgbClr val="1F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병합·충돌 해결 + 리로케이션 재적용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사람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가장 큼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8B57"/>
                          </a:solidFill>
                          <a:latin typeface="맑은 고딕"/>
                        </a:rPr>
                        <a:t>LLM이 대신 → 줄어듦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관리 파일 ~25개 · 커밋 이력 갱신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사람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큼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8B57"/>
                          </a:solidFill>
                          <a:latin typeface="맑은 고딕"/>
                        </a:rPr>
                        <a:t>LLM이 초안 → 줄어듦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검사·테스트 실행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기계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맑은 고딕"/>
                        </a:rPr>
                        <a:t>늘어도 사람 시간은 아님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확인(화면 열어보기·API 찔러보기)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사람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중간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E8B57"/>
                          </a:solidFill>
                          <a:latin typeface="맑은 고딕"/>
                        </a:rPr>
                        <a:t>자동 검사가 대신 → 줄어듦</a:t>
                      </a:r>
                    </a:p>
                  </a:txBody>
                  <a:tcPr anchor="ctr" marT="25400" marB="25400" marL="76200">
                    <a:solidFill>
                      <a:srgbClr val="EEF2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22730"/>
                          </a:solidFill>
                          <a:latin typeface="맑은 고딕"/>
                        </a:rPr>
                        <a:t>승인·판단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사람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730"/>
                          </a:solidFill>
                          <a:latin typeface="맑은 고딕"/>
                        </a:rPr>
                        <a:t>작음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B66"/>
                          </a:solidFill>
                          <a:latin typeface="맑은 고딕"/>
                        </a:rPr>
                        <a:t>그대로</a:t>
                      </a:r>
                    </a:p>
                  </a:txBody>
                  <a:tcPr anchor="ctr" marT="25400" marB="25400" marL="762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55B66"/>
                </a:solidFill>
                <a:latin typeface="맑은 고딕"/>
              </a:rPr>
              <a:t>첫 도입은 오히려 느리다(등록·기준선 세팅) / 두 번째 버전업부터 빨라진다.  보류 5종이 이 답을 좌우한다 — 사람 손이 붙는 것을 남기면 느려지고, 자동으로 도는 것만 남기면 빨라진다.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8F8F"/>
                </a:solidFill>
                <a:latin typeface="맑은 고딕"/>
              </a:rPr>
              <a:t>오해 방지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검사기의 정확한 위치 — LLM 위에 얹는 안전장치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0E8F8F"/>
                </a:solidFill>
                <a:latin typeface="맑은 고딕"/>
              </a:rPr>
              <a:t>검사기는 LLM을 대신하지 않는다. 검사도 판단도 LLM이 먼저 한다 — 검사기는 그 결과를 한 번 더 확인할 뿐이다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6CB1"/>
                </a:solidFill>
                <a:latin typeface="맑은 고딕"/>
              </a:rPr>
              <a:t>1차 — LLM: 무엇을 바꿀지 정하고, 옮겨간 코드를 찾고, 충돌을 풀고, 검사까지 직접 돌린다. 속도는 전부 여기서 나온다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0E8F8F"/>
                </a:solidFill>
                <a:latin typeface="맑은 고딕"/>
              </a:rPr>
              <a:t>2차 — 검사기: 같은 일을 다시 하지 않는다. LLM이 자기 자신에 대해 답할 수 없는 것만 확인한다</a:t>
            </a:r>
          </a:p>
          <a:p>
            <a:pPr lvl="1">
              <a:spcBef>
                <a:spcPts val="200"/>
              </a:spcBef>
              <a:spcAft>
                <a:spcPts val="600"/>
              </a:spcAft>
            </a:pPr>
            <a:r>
              <a:rPr sz="1300" b="0">
                <a:solidFill>
                  <a:srgbClr val="555B66"/>
                </a:solidFill>
                <a:latin typeface="맑은 고딕"/>
              </a:rPr>
              <a:t>– </a:t>
            </a:r>
            <a:r>
              <a:rPr sz="1300" b="0">
                <a:solidFill>
                  <a:srgbClr val="222730"/>
                </a:solidFill>
                <a:latin typeface="맑은 고딕"/>
              </a:rPr>
              <a:t>① 정말 돌렸는가  ② 검사한 코드가 배포할 코드와 같은가  ③ 그 결과가 나중에 바뀌지 않았는가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B03A2E"/>
                </a:solidFill>
                <a:latin typeface="맑은 고딕"/>
              </a:rPr>
              <a:t>그래서 독립성 — LLM이 실행·기록·증거·승인을 다 하면 ‘한 번 더’가 성립하지 않는다. 별도의 보호된 자동화(CI)가 실제 코드를 받아 검사를 돌려야 한다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8B57"/>
                </a:solidFill>
                <a:latin typeface="맑은 고딕"/>
              </a:rPr>
              <a:t>검사기를 ‘LLM보다 똑똑한 판정자’로 쓰면 실패한다 — 그건 이미 해봤다. ‘LLM이 한 일을 한 번 더 확인하는 안전장치’로 쓰면 부담은 작고 얻는 건 크다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8F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E8F8F"/>
                </a:solidFill>
                <a:latin typeface="맑은 고딕"/>
              </a:rPr>
              <a:t>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맑은 고딕"/>
              </a:rPr>
              <a:t>결론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8B57"/>
                </a:solidFill>
                <a:latin typeface="맑은 고딕"/>
              </a:rPr>
              <a:t>작은 변화 — 하위 패치엔 규칙 기반이 그대로 유효. 충돌 0·자동 병합 (4·5p)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B03A2E"/>
                </a:solidFill>
                <a:latin typeface="맑은 고딕"/>
              </a:rPr>
              <a:t>큰 변화 — 1.13.2처럼 구조가 바뀌면 오판(리로케이션) + 관리 파일 ~25개 운영 부담(6p) → 한계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6CB1"/>
                </a:solidFill>
                <a:latin typeface="맑은 고딕"/>
              </a:rPr>
              <a:t>그래서 — 규칙 기반은 버리지 않는다. 예측 가능 범위엔 그대로, 불확실할 때만 하이브리드. 그 관리 산출물은 LLM이 만들고 검사기는 검증만 (9·10p)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0E8F8F"/>
                </a:solidFill>
                <a:latin typeface="맑은 고딕"/>
              </a:rPr>
              <a:t>① 방식 통제 — 규칙으로 못 박던 것을 지시(프롬프트·MD)로 옮겨 AI가 일하는 방식을 통제 (브랜치·커밋·범위)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2E8B57"/>
                </a:solidFill>
                <a:latin typeface="맑은 고딕"/>
              </a:rPr>
              <a:t>② 결과 통제 — 과정마다 정해진 형식으로 결과를 뱉게 강제 → 검사기가 판정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>
                <a:solidFill>
                  <a:srgbClr val="0E8F8F"/>
                </a:solidFill>
                <a:latin typeface="맑은 고딕"/>
              </a:rPr>
              <a:t>■ </a:t>
            </a:r>
            <a:r>
              <a:rPr sz="1500" b="1">
                <a:solidFill>
                  <a:srgbClr val="0E8F8F"/>
                </a:solidFill>
                <a:latin typeface="맑은 고딕"/>
              </a:rPr>
              <a:t>한 줄 (harness = 고삐) — 업그레이드가 불확실해도 산출물을 예측 가능하게 만들어 통제한다. AI를 덜 쓰는(minimize) 게 아니라 고삐를 채우는(harness) 것</a:t>
            </a:r>
          </a:p>
          <a:p>
            <a:pPr lvl="2">
              <a:spcBef>
                <a:spcPts val="200"/>
              </a:spcBef>
              <a:spcAft>
                <a:spcPts val="600"/>
              </a:spcAft>
            </a:pPr>
            <a:r>
              <a:rPr sz="1200" b="0">
                <a:solidFill>
                  <a:srgbClr val="555B66"/>
                </a:solidFill>
                <a:latin typeface="맑은 고딕"/>
              </a:rPr>
              <a:t>· 현재: 1.13.1 9/9 · 1.13.2 부분 / 다음: 주장–증거 자동 대조기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55664"/>
            <a:ext cx="91440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B66"/>
                </a:solidFill>
                <a:latin typeface="맑은 고딕"/>
              </a:rPr>
              <a:t>OpenMetadata 커스텀 버전업 검증 전략 · CODEX-05(정본) 기반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55664"/>
            <a:ext cx="640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맑은 고딕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